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78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711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10" Type="http://schemas.openxmlformats.org/officeDocument/2006/relationships/image" Target="../media/image18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Autonomes Linienfolgendes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Robotersystem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Kamerabasierte Spurerkennung mit TurtleBot3 Waffle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Sadri Ghamshi, Ashkan  ·  Mejri, Edem  ·  Benfarhat, Mohamed Wajih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Hochschule  ·  Autonome Systeme  ·  WS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Gliederung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Einleitung &amp; Systemüberblick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41732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Mejri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der Technik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0" y="19202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Anforderungsanalyse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0" y="242316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Konzeptentwicklung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0" y="292608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0" y="34290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 &amp; Evaluation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0" y="393192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58000" y="44348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Einleitung &amp; Systemüberblick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Aufgabenstellung und Architektur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Mejri, Edem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Aufgabenstellung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Autonomes Linienfolgen mit TurtleBot3 Waffle — von der Kamera bis zur Steuerung, komplett in ROS 2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4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Pflichtaufgaben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3152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Kamerakalibrierung, Entzerrung, Homographie, Bird's-Eye View, LiDAR-Overlay, Spurerkennung, Autonomes Fahren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Aufgabenverteilung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120640" y="192024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53492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Mejri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492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Einleitung, Systemüberblick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20640" y="269748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4"/>
          <p:cNvSpPr/>
          <p:nvPr/>
        </p:nvSpPr>
        <p:spPr>
          <a:xfrm>
            <a:off x="53492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3492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Anforderungen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20640" y="3474720"/>
            <a:ext cx="73152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7"/>
          <p:cNvSpPr/>
          <p:nvPr/>
        </p:nvSpPr>
        <p:spPr>
          <a:xfrm>
            <a:off x="534924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3492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Konzept, Implementierung, Test, Fazit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Systemarchitektur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3716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1554480"/>
            <a:ext cx="13716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Kalibrierung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0" y="1554480"/>
            <a:ext cx="13716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Bird's-Eye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0" y="1554480"/>
            <a:ext cx="13716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Spurerkennung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1554480"/>
            <a:ext cx="13716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Realer Roboter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2926080"/>
            <a:ext cx="137160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IMX708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377440" y="2926080"/>
            <a:ext cx="137160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180°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23360" y="2926080"/>
            <a:ext cx="137160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Binärschwelle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0" y="2926080"/>
            <a:ext cx="137160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Multi-Height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15200" y="2926080"/>
            <a:ext cx="137160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P-Regler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38404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Hauptunterschied: Simulation nutzt Bird's-Eye View + PID, realer Roboter nutzt direkte Binärerkennung + P-Regler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der Technik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Erkennungsmethoden, Transformation und Regelung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Benfarhat, Mohamed Wajih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Erkennungsmethoden im Vergleich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Schwellwert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Canny+Hough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Rechenaufwand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Sehr gering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Lichtempfindlichkeit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Falschpositive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 (unser Umfeld)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Implementierung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Einfach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TurtleBot3-Eignung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5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Entscheidung: Binäre Schwellwerterkennung — schnell, robust im kontrollierten Labor, einfach zu debuggen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Kalibrierung &amp; Perspektivtransformation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Zhang's Methode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Schachbrettmuster 8×6, 2.5 cm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cv2.calibrateCamera() → K, 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10 Aufnahmen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Reprojektion &lt; 1.0 Pixel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Homographie (Bird's-Eye View)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Matrix H, 4 Punktpaare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cv2.getPerspectiveTransform()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Parallele Linien bleiben parallel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Punkte konfigurierbar via YAML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Regelungsstrategien: P, PD, PID, Fuzzy → Wahl abhängig von Sensorqualität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Anforderungsanalyse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Funktionale und nicht-funktionale Anforderungen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Benfarhat, Mohamed Wajih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Benfarhat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Anforderungen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Funktionale Anforderungen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FR-1: Kamerakalibrierung (&lt; 1.0 px)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FR-2: Entzerrtes Bild publizieren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FR-3: Homographie berechnen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FR-4: Bird's-Eye View 640×480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FR-5: LiDAR → BEV-Koordinaten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FR-6: LiDAR-Overlay (grün/rot)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FR-7: Autonomes Spurfolgen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Nicht-funktionale Anforderungen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NFR-1: Echtzeit (≥10 fps real, ~30 fps sim)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NFR-2: Robustheit (Fallback, Stopp nach 20 Frames)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NFR-3: Konfigurierbarkeit (YAML)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NFR-4: Dual-Modus (Sim ↔ Real per Launch-File)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Metriken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M-1: Zentrierungsfehler (CTE)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M-2: Erkennungskonfidenz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M-3: Modusstabilität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M-4: Rundenabschluss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Konzeptentwicklung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Entwurfsentscheidungen und Strategien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Sadri Ghamshi, Ashkan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Entwurfsentscheidungen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9728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Erkennung: Schwellwert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Canny+Hough → zu viele Falschkanten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Binärschwelle funktioniert zuverlässig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110, Real: 200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Regelung: Sim vs. Real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PID (Kp=2.0, Ki=0.02, Kd=0.3)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PID versagt → zu viel Rauschen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P-Regler: ω = −offset × 0.2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Fallback-Strategie (3 Stufen)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4904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Linien auf gleicher Höhe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37490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3749040"/>
            <a:ext cx="25603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033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sichtbar, verschiedene Höhen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74904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eine Linie → ±150 px Offset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Implementierung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Code-Module und Algorithmen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Sadri Ghamshi, Ashkan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Spurerkennung — Implementierung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(line_detector.py)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→ Gaussian Blur 5×5 → Schwellwert 110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Zeilenweise Analyse: unten → Mitte, Step 5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Medianfilter für links/rechts Positionen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±50 px Offset bei einer Linie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10-Frame gleitender Durchschnitt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Realer Roboter (real_line_detector.py)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50% unten → 640×480 → Schwellwert 200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3×3, Dilatation 5×5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Scanhöhen: 0.25 bis 0.75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Gap 5 px, Min-Größe 3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 Durchschnitt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Multi-Height Scanning: 6 horizontale Linien (25% – 75%) scannen das Bild.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Kurven verschwindet eine Linie auf bestimmten Höhen → Redundanz durch mehrere Höhen.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Reglerdesign — Implementierung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— PID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−(Kp·e + Ki·∫e dt + Kd·ė)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= 2.0, Ki = 0.02, Kd = 0.3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Totzone: ±0.05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Integral-Clamp: [−1, 1]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Winkelgeschw.: ±1.5 rad/s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Geschwindigkeit: 0.12 m/s (Basis)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Kurvenanpassung: 40%–100%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Realer Roboter — P-Regler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−offset × 0.2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Gain: 0.2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Winkelgeschw.: ±0.3 rad/s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Geschwindigkeit: 0.02 m/s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Verlangsamung: 50% bei Offset &gt; 0.3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Stopp: nach 20 Frames ohne Linie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langsamer als Simulation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Multi-Height Scanning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real_line_detector.py — detect_lines() + find_lines_at_region()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C91AB7-DD92-B3A2-28AF-DD1A384BB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50" y="1051560"/>
            <a:ext cx="2738044" cy="40462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F3EAE0-F72B-D96E-B96B-ABC4B6894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425" y="1234440"/>
            <a:ext cx="5618176" cy="35286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Fallback-Strategie &amp; Regler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real_line_detector.py — determine_steering() + real_robot_controller.py — calculate_velocity()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3CFBCC-7570-6732-26C6-CAC729403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40" y="1097280"/>
            <a:ext cx="2126511" cy="3924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C2D005-3B14-E3E2-7141-FD882646A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293" y="1097279"/>
            <a:ext cx="3387874" cy="39391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Testen &amp; Evaluation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Ergebnisse, Analyse und Probleme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Sadri Ghamshi, Ashkan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Ergebnisse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Realer Roboter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M-1: CTE (Gerade)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M-1: CTE (Kurve)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M-2: Konfidenz (Gerade)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M-3: Moduswechsel/Runde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M-4: Rundenabschluss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4747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genauer (Sim)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34747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47472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 Real Speed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4747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21792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Debug-Bilder analysiert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Kurvenverhalten &amp; Probleme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Kurvenanalyse (36 Frames)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1–6: centered, CTE ±0.27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6–8: → estimated (äußere Linie verschwindet)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9–20: follow/estimated Wechsel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15: Offset &gt; 0.3 → Verlangsamung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25–36: → zurück zu centered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Error: ~0.094 (kein I-Anteil)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Aufgetretene Probleme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1691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Kalibrierungsdatei nicht in Git committed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Code enthält Fallback auf Standardwerte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Blauer Boden reflektiert Licht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Morphologische Operationen helfen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auf realem Roboter → Chaos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Gelöst: Wechsel zu P-Regler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Debug-Bilder — Kurvenanalyse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(centered)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84248" y="960120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984248" y="96012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84248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(centered)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48456" y="960120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648456" y="96012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456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Kurve beginnt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12664" y="960120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312664" y="96012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12664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estimated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76872" y="960120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976872" y="96012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76872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Kurve (follow)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20040" y="2523744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040" y="3712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&gt; 0.3 → slow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84248" y="2523744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984248" y="2523744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984248" y="3712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Kurve Mitte (follow)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48456" y="2523744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648456" y="2523744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48456" y="3712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Kurve Ende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12664" y="2523744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312664" y="2523744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12664" y="3712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Erholung (estimated)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76872" y="2523744"/>
            <a:ext cx="155448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976872" y="2523744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76872" y="3712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 (centered)</a:t>
            </a:r>
            <a:endParaRPr lang="en-US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F8A8B47-7819-4A4F-C1BF-CD804710A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46348"/>
            <a:ext cx="1578938" cy="118420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2F9B19D-F7D4-A811-85B7-48E5FF717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957834"/>
            <a:ext cx="1560576" cy="117043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5CC972A-A41C-2877-23BB-D84823335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957834"/>
            <a:ext cx="1578938" cy="118420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37150F-CDDC-2C15-7397-8D3630531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6568" y="957834"/>
            <a:ext cx="1554480" cy="116586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2597FEE-04BB-208B-086A-C4C911C00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872" y="957833"/>
            <a:ext cx="1578940" cy="118420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E96CB76-6416-8EF3-1557-05AE2CDDD7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6819" y="2512890"/>
            <a:ext cx="1584957" cy="118871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0D47105-F2A1-3ED0-00DF-D480B8F699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4248" y="2523743"/>
            <a:ext cx="1560575" cy="117043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09B082E-91E1-BC3A-F87E-FA75CEC5B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23743"/>
            <a:ext cx="1560575" cy="117043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5248722-2A94-AEEF-D140-67D353F66A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6568" y="2523743"/>
            <a:ext cx="1554479" cy="116585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C83C85D-A8EF-09EF-BD6B-0E1698BBC8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4680" y="2537460"/>
            <a:ext cx="1566672" cy="11750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 &amp; Ausblick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 und zukünftige Arbeit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Sadri Ghamshi, Ashkan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37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gut funktioniert hat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Multi-Height Scanning: robuste Erkennung in Kurven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Drei-Stufen-Fallback: graceful degradation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Kurvenanpassung der Geschwindigkeit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Modi schließen volle Runden ab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nicht optimal lief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5488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Transfer: PID → P-Regler nötig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Kalibrierungsdatei nicht im Repository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Blaue Bodenreflexionen stören Erkennung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Schwellwerte noch hartcodiert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Ausblick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31520" y="361188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8686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≈ 0.005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4069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 Integral-Anteil für Steady-State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88920" y="361188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29260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Otsu-Schwellwert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26080" y="4069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Beleuchtungsanpassung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46320" y="361188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9834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auf Real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983480" y="4069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Algorithmus für beide Modi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03720" y="361188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040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Kalman-Filter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7040880" y="4069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Bessere Glättung ohne Phasenlag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Fragen?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Aufmerksamkeit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Sadri Ghamshi  ·  Mejri  ·  Benfarhat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1150</Words>
  <Application>Microsoft Macintosh PowerPoint</Application>
  <PresentationFormat>On-screen Show (16:9)</PresentationFormat>
  <Paragraphs>322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Autonomes Linienfolgendes Robotersystem</dc:title>
  <dc:subject>PptxGenJS Presentation</dc:subject>
  <dc:creator>Sadri Ghamshi, Mejri, Benfarhat</dc:creator>
  <cp:lastModifiedBy>ashkan sadr</cp:lastModifiedBy>
  <cp:revision>6</cp:revision>
  <dcterms:created xsi:type="dcterms:W3CDTF">2026-02-20T11:30:07Z</dcterms:created>
  <dcterms:modified xsi:type="dcterms:W3CDTF">2026-02-24T12:04:05Z</dcterms:modified>
</cp:coreProperties>
</file>